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Medium" charset="1" panose="00000600000000000000"/>
      <p:regular r:id="rId11"/>
    </p:embeddedFont>
    <p:embeddedFont>
      <p:font typeface="Poppins" charset="1" panose="00000500000000000000"/>
      <p:regular r:id="rId12"/>
    </p:embeddedFont>
    <p:embeddedFont>
      <p:font typeface="Inter Extra-Light" charset="1" panose="0200050300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6569683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252477" y="2479153"/>
            <a:ext cx="11783046" cy="299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1"/>
              </a:lnSpc>
            </a:pPr>
            <a:r>
              <a:rPr lang="en-US" b="true" sz="7917" spc="-332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Olist E-Commerce Business Performance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61793" y="6632505"/>
            <a:ext cx="6967016" cy="321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0"/>
              </a:lnSpc>
            </a:pPr>
            <a:r>
              <a:rPr lang="en-US" sz="3021" spc="-126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Business Objective</a:t>
            </a:r>
          </a:p>
          <a:p>
            <a:pPr algn="just">
              <a:lnSpc>
                <a:spcPts val="4230"/>
              </a:lnSpc>
            </a:pPr>
          </a:p>
          <a:p>
            <a:pPr algn="just">
              <a:lnSpc>
                <a:spcPts val="4230"/>
              </a:lnSpc>
            </a:pPr>
            <a:r>
              <a:rPr lang="en-US" sz="3021" spc="-126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Identify key revenue drivers, sales trends, seller performance patterns,</a:t>
            </a:r>
          </a:p>
          <a:p>
            <a:pPr algn="just">
              <a:lnSpc>
                <a:spcPts val="4230"/>
              </a:lnSpc>
              <a:spcBef>
                <a:spcPct val="0"/>
              </a:spcBef>
            </a:pPr>
            <a:r>
              <a:rPr lang="en-US" sz="3021" spc="-126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and delivery-related customer experience risks.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908922"/>
            <a:ext cx="6967016" cy="215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 spc="-126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Data Analyst Assessment</a:t>
            </a:r>
          </a:p>
          <a:p>
            <a:pPr algn="l">
              <a:lnSpc>
                <a:spcPts val="4230"/>
              </a:lnSpc>
            </a:pPr>
          </a:p>
          <a:p>
            <a:pPr algn="l">
              <a:lnSpc>
                <a:spcPts val="4230"/>
              </a:lnSpc>
              <a:spcBef>
                <a:spcPct val="0"/>
              </a:spcBef>
            </a:pPr>
            <a:r>
              <a:rPr lang="en-US" sz="3021" spc="-126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3021" spc="-126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razilian E-Commerce Public Dataset by Olist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9864" y="891092"/>
            <a:ext cx="8115300" cy="221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8546" spc="-358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&amp;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4650" y="3284738"/>
            <a:ext cx="7556647" cy="648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Dataset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Brazilian E-C</a:t>
            </a: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ommerce Public Dataset by Olist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Multiple related e-commerce datasets</a:t>
            </a:r>
          </a:p>
          <a:p>
            <a:pPr algn="just">
              <a:lnSpc>
                <a:spcPts val="2379"/>
              </a:lnSpc>
            </a:pP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Key Data Used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Orders and Order Items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Products and Product Categories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Customers and Sellers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Payments and Reviews</a:t>
            </a:r>
          </a:p>
          <a:p>
            <a:pPr algn="just">
              <a:lnSpc>
                <a:spcPts val="2379"/>
              </a:lnSpc>
            </a:pP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Data Processing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Removed duplicate geolocation records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Handled missing values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Converted date fields to datetime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Joined related datasets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Created revenue and delivery metrics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Categorized delivery performance</a:t>
            </a:r>
          </a:p>
          <a:p>
            <a:pPr algn="just">
              <a:lnSpc>
                <a:spcPts val="2379"/>
              </a:lnSpc>
            </a:pP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Analysis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Descriptive and exploratory analysis</a:t>
            </a:r>
          </a:p>
          <a:p>
            <a:pPr algn="just">
              <a:lnSpc>
                <a:spcPts val="2379"/>
              </a:lnSpc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Category, seller, time and delivery performance analysis</a:t>
            </a:r>
          </a:p>
          <a:p>
            <a:pPr algn="just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Looker Studio dashboard for management reporting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86997" y="1028700"/>
            <a:ext cx="9297103" cy="8229600"/>
            <a:chOff x="0" y="0"/>
            <a:chExt cx="1440365" cy="12749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0365" cy="1274980"/>
            </a:xfrm>
            <a:custGeom>
              <a:avLst/>
              <a:gdLst/>
              <a:ahLst/>
              <a:cxnLst/>
              <a:rect r="r" b="b" t="t" l="l"/>
              <a:pathLst>
                <a:path h="1274980" w="1440365">
                  <a:moveTo>
                    <a:pt x="50796" y="0"/>
                  </a:moveTo>
                  <a:lnTo>
                    <a:pt x="1389568" y="0"/>
                  </a:lnTo>
                  <a:cubicBezTo>
                    <a:pt x="1417622" y="0"/>
                    <a:pt x="1440365" y="22742"/>
                    <a:pt x="1440365" y="50796"/>
                  </a:cubicBezTo>
                  <a:lnTo>
                    <a:pt x="1440365" y="1224184"/>
                  </a:lnTo>
                  <a:cubicBezTo>
                    <a:pt x="1440365" y="1237656"/>
                    <a:pt x="1435013" y="1250576"/>
                    <a:pt x="1425487" y="1260103"/>
                  </a:cubicBezTo>
                  <a:cubicBezTo>
                    <a:pt x="1415961" y="1269629"/>
                    <a:pt x="1403040" y="1274980"/>
                    <a:pt x="1389568" y="1274980"/>
                  </a:cubicBezTo>
                  <a:lnTo>
                    <a:pt x="50796" y="1274980"/>
                  </a:lnTo>
                  <a:cubicBezTo>
                    <a:pt x="22742" y="1274980"/>
                    <a:pt x="0" y="1252238"/>
                    <a:pt x="0" y="1224184"/>
                  </a:cubicBezTo>
                  <a:lnTo>
                    <a:pt x="0" y="50796"/>
                  </a:lnTo>
                  <a:cubicBezTo>
                    <a:pt x="0" y="37324"/>
                    <a:pt x="5352" y="24404"/>
                    <a:pt x="14878" y="14878"/>
                  </a:cubicBezTo>
                  <a:cubicBezTo>
                    <a:pt x="24404" y="5352"/>
                    <a:pt x="37324" y="0"/>
                    <a:pt x="5079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4781" r="0" b="-34781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143500"/>
            <a:ext cx="12279636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279636" y="0"/>
            <a:ext cx="0" cy="1032106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986414" y="734598"/>
            <a:ext cx="3903162" cy="1437318"/>
            <a:chOff x="0" y="0"/>
            <a:chExt cx="1027993" cy="3785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7993" cy="378553"/>
            </a:xfrm>
            <a:custGeom>
              <a:avLst/>
              <a:gdLst/>
              <a:ahLst/>
              <a:cxnLst/>
              <a:rect r="r" b="b" t="t" l="l"/>
              <a:pathLst>
                <a:path h="378553" w="1027993">
                  <a:moveTo>
                    <a:pt x="189276" y="0"/>
                  </a:moveTo>
                  <a:lnTo>
                    <a:pt x="838717" y="0"/>
                  </a:lnTo>
                  <a:cubicBezTo>
                    <a:pt x="888916" y="0"/>
                    <a:pt x="937059" y="19942"/>
                    <a:pt x="972556" y="55438"/>
                  </a:cubicBezTo>
                  <a:cubicBezTo>
                    <a:pt x="1008052" y="90934"/>
                    <a:pt x="1027993" y="139077"/>
                    <a:pt x="1027993" y="189276"/>
                  </a:cubicBezTo>
                  <a:lnTo>
                    <a:pt x="1027993" y="189276"/>
                  </a:lnTo>
                  <a:cubicBezTo>
                    <a:pt x="1027993" y="293811"/>
                    <a:pt x="943251" y="378553"/>
                    <a:pt x="838717" y="378553"/>
                  </a:cubicBezTo>
                  <a:lnTo>
                    <a:pt x="189276" y="378553"/>
                  </a:lnTo>
                  <a:cubicBezTo>
                    <a:pt x="84742" y="378553"/>
                    <a:pt x="0" y="293811"/>
                    <a:pt x="0" y="189276"/>
                  </a:cubicBezTo>
                  <a:lnTo>
                    <a:pt x="0" y="189276"/>
                  </a:lnTo>
                  <a:cubicBezTo>
                    <a:pt x="0" y="84742"/>
                    <a:pt x="84742" y="0"/>
                    <a:pt x="1892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27993" cy="426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0"/>
                </a:lnSpc>
              </a:pPr>
              <a:r>
                <a:rPr lang="en-US" b="true" sz="1721" spc="36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HEALTH &amp; BEAUTY WAS THE HIGHEST-REVENUE PRODUCT CATEGORY REVENUE: 1,441,248.07 | ORDERS: 8,836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86414" y="2535583"/>
            <a:ext cx="3903162" cy="1437318"/>
            <a:chOff x="0" y="0"/>
            <a:chExt cx="1027993" cy="3785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7993" cy="378553"/>
            </a:xfrm>
            <a:custGeom>
              <a:avLst/>
              <a:gdLst/>
              <a:ahLst/>
              <a:cxnLst/>
              <a:rect r="r" b="b" t="t" l="l"/>
              <a:pathLst>
                <a:path h="378553" w="1027993">
                  <a:moveTo>
                    <a:pt x="189276" y="0"/>
                  </a:moveTo>
                  <a:lnTo>
                    <a:pt x="838717" y="0"/>
                  </a:lnTo>
                  <a:cubicBezTo>
                    <a:pt x="888916" y="0"/>
                    <a:pt x="937059" y="19942"/>
                    <a:pt x="972556" y="55438"/>
                  </a:cubicBezTo>
                  <a:cubicBezTo>
                    <a:pt x="1008052" y="90934"/>
                    <a:pt x="1027993" y="139077"/>
                    <a:pt x="1027993" y="189276"/>
                  </a:cubicBezTo>
                  <a:lnTo>
                    <a:pt x="1027993" y="189276"/>
                  </a:lnTo>
                  <a:cubicBezTo>
                    <a:pt x="1027993" y="293811"/>
                    <a:pt x="943251" y="378553"/>
                    <a:pt x="838717" y="378553"/>
                  </a:cubicBezTo>
                  <a:lnTo>
                    <a:pt x="189276" y="378553"/>
                  </a:lnTo>
                  <a:cubicBezTo>
                    <a:pt x="84742" y="378553"/>
                    <a:pt x="0" y="293811"/>
                    <a:pt x="0" y="189276"/>
                  </a:cubicBezTo>
                  <a:lnTo>
                    <a:pt x="0" y="189276"/>
                  </a:lnTo>
                  <a:cubicBezTo>
                    <a:pt x="0" y="84742"/>
                    <a:pt x="84742" y="0"/>
                    <a:pt x="1892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27993" cy="426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0"/>
                </a:lnSpc>
              </a:pPr>
              <a:r>
                <a:rPr lang="en-US" b="true" sz="1721" spc="36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THE TOP 10 SELLERS GENERATED APPROXIMATELY 2.03 MILLION AROUND 12.8% OF TOTAL ANALYZED REVENUE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86414" y="4401571"/>
            <a:ext cx="3903162" cy="1742118"/>
            <a:chOff x="0" y="0"/>
            <a:chExt cx="1027993" cy="4588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7993" cy="458829"/>
            </a:xfrm>
            <a:custGeom>
              <a:avLst/>
              <a:gdLst/>
              <a:ahLst/>
              <a:cxnLst/>
              <a:rect r="r" b="b" t="t" l="l"/>
              <a:pathLst>
                <a:path h="458829" w="1027993">
                  <a:moveTo>
                    <a:pt x="198350" y="0"/>
                  </a:moveTo>
                  <a:lnTo>
                    <a:pt x="829643" y="0"/>
                  </a:lnTo>
                  <a:cubicBezTo>
                    <a:pt x="882249" y="0"/>
                    <a:pt x="932700" y="20898"/>
                    <a:pt x="969898" y="58095"/>
                  </a:cubicBezTo>
                  <a:cubicBezTo>
                    <a:pt x="1007096" y="95293"/>
                    <a:pt x="1027993" y="145744"/>
                    <a:pt x="1027993" y="198350"/>
                  </a:cubicBezTo>
                  <a:lnTo>
                    <a:pt x="1027993" y="260480"/>
                  </a:lnTo>
                  <a:cubicBezTo>
                    <a:pt x="1027993" y="313085"/>
                    <a:pt x="1007096" y="363536"/>
                    <a:pt x="969898" y="400734"/>
                  </a:cubicBezTo>
                  <a:cubicBezTo>
                    <a:pt x="932700" y="437932"/>
                    <a:pt x="882249" y="458829"/>
                    <a:pt x="829643" y="458829"/>
                  </a:cubicBezTo>
                  <a:lnTo>
                    <a:pt x="198350" y="458829"/>
                  </a:lnTo>
                  <a:cubicBezTo>
                    <a:pt x="88804" y="458829"/>
                    <a:pt x="0" y="370025"/>
                    <a:pt x="0" y="260480"/>
                  </a:cubicBezTo>
                  <a:lnTo>
                    <a:pt x="0" y="198350"/>
                  </a:lnTo>
                  <a:cubicBezTo>
                    <a:pt x="0" y="145744"/>
                    <a:pt x="20898" y="95293"/>
                    <a:pt x="58095" y="58095"/>
                  </a:cubicBezTo>
                  <a:cubicBezTo>
                    <a:pt x="95293" y="20898"/>
                    <a:pt x="145744" y="0"/>
                    <a:pt x="1983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27993" cy="506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0"/>
                </a:lnSpc>
              </a:pPr>
              <a:r>
                <a:rPr lang="en-US" b="true" sz="1721" spc="36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REVENUE INCREASED SUBSTANTIALLY OVER THE ANALYZED PERIOD SEVERAL MONTHS IN 2018 EXCEEDED 1 MILLION IN REVENUE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86414" y="6383139"/>
            <a:ext cx="3903162" cy="1537344"/>
            <a:chOff x="0" y="0"/>
            <a:chExt cx="1027993" cy="4048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7993" cy="404897"/>
            </a:xfrm>
            <a:custGeom>
              <a:avLst/>
              <a:gdLst/>
              <a:ahLst/>
              <a:cxnLst/>
              <a:rect r="r" b="b" t="t" l="l"/>
              <a:pathLst>
                <a:path h="404897" w="1027993">
                  <a:moveTo>
                    <a:pt x="198350" y="0"/>
                  </a:moveTo>
                  <a:lnTo>
                    <a:pt x="829643" y="0"/>
                  </a:lnTo>
                  <a:cubicBezTo>
                    <a:pt x="882249" y="0"/>
                    <a:pt x="932700" y="20898"/>
                    <a:pt x="969898" y="58095"/>
                  </a:cubicBezTo>
                  <a:cubicBezTo>
                    <a:pt x="1007096" y="95293"/>
                    <a:pt x="1027993" y="145744"/>
                    <a:pt x="1027993" y="198350"/>
                  </a:cubicBezTo>
                  <a:lnTo>
                    <a:pt x="1027993" y="206547"/>
                  </a:lnTo>
                  <a:cubicBezTo>
                    <a:pt x="1027993" y="259153"/>
                    <a:pt x="1007096" y="309604"/>
                    <a:pt x="969898" y="346802"/>
                  </a:cubicBezTo>
                  <a:cubicBezTo>
                    <a:pt x="932700" y="384000"/>
                    <a:pt x="882249" y="404897"/>
                    <a:pt x="829643" y="404897"/>
                  </a:cubicBezTo>
                  <a:lnTo>
                    <a:pt x="198350" y="404897"/>
                  </a:lnTo>
                  <a:cubicBezTo>
                    <a:pt x="145744" y="404897"/>
                    <a:pt x="95293" y="384000"/>
                    <a:pt x="58095" y="346802"/>
                  </a:cubicBezTo>
                  <a:cubicBezTo>
                    <a:pt x="20898" y="309604"/>
                    <a:pt x="0" y="259153"/>
                    <a:pt x="0" y="206547"/>
                  </a:cubicBezTo>
                  <a:lnTo>
                    <a:pt x="0" y="198350"/>
                  </a:lnTo>
                  <a:cubicBezTo>
                    <a:pt x="0" y="145744"/>
                    <a:pt x="20898" y="95293"/>
                    <a:pt x="58095" y="58095"/>
                  </a:cubicBezTo>
                  <a:cubicBezTo>
                    <a:pt x="95293" y="20898"/>
                    <a:pt x="145744" y="0"/>
                    <a:pt x="1983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27993" cy="452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0"/>
                </a:lnSpc>
              </a:pPr>
              <a:r>
                <a:rPr lang="en-US" b="true" sz="1521" spc="31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DELIVERY PERFORMANCE SHOWED A STRONG ASSOCIATION WITH CUSTOMER RATINGS ON TIME: 4.21 | DELAYED: 2.55 | MISSING DELIVERY DATE: 1.75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86414" y="8159933"/>
            <a:ext cx="3903162" cy="1437318"/>
            <a:chOff x="0" y="0"/>
            <a:chExt cx="1027993" cy="3785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7993" cy="378553"/>
            </a:xfrm>
            <a:custGeom>
              <a:avLst/>
              <a:gdLst/>
              <a:ahLst/>
              <a:cxnLst/>
              <a:rect r="r" b="b" t="t" l="l"/>
              <a:pathLst>
                <a:path h="378553" w="1027993">
                  <a:moveTo>
                    <a:pt x="189276" y="0"/>
                  </a:moveTo>
                  <a:lnTo>
                    <a:pt x="838717" y="0"/>
                  </a:lnTo>
                  <a:cubicBezTo>
                    <a:pt x="888916" y="0"/>
                    <a:pt x="937059" y="19942"/>
                    <a:pt x="972556" y="55438"/>
                  </a:cubicBezTo>
                  <a:cubicBezTo>
                    <a:pt x="1008052" y="90934"/>
                    <a:pt x="1027993" y="139077"/>
                    <a:pt x="1027993" y="189276"/>
                  </a:cubicBezTo>
                  <a:lnTo>
                    <a:pt x="1027993" y="189276"/>
                  </a:lnTo>
                  <a:cubicBezTo>
                    <a:pt x="1027993" y="293811"/>
                    <a:pt x="943251" y="378553"/>
                    <a:pt x="838717" y="378553"/>
                  </a:cubicBezTo>
                  <a:lnTo>
                    <a:pt x="189276" y="378553"/>
                  </a:lnTo>
                  <a:cubicBezTo>
                    <a:pt x="84742" y="378553"/>
                    <a:pt x="0" y="293811"/>
                    <a:pt x="0" y="189276"/>
                  </a:cubicBezTo>
                  <a:lnTo>
                    <a:pt x="0" y="189276"/>
                  </a:lnTo>
                  <a:cubicBezTo>
                    <a:pt x="0" y="84742"/>
                    <a:pt x="84742" y="0"/>
                    <a:pt x="1892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0E1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F4F4F4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27993" cy="426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0"/>
                </a:lnSpc>
              </a:pPr>
              <a:r>
                <a:rPr lang="en-US" b="true" sz="1721" spc="36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NOVEMBER 2017 WAS THE STRONGEST SALES MONTH REVENUE: 1,179,143.77 | ORDERS: 7,451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73585" y="1040458"/>
            <a:ext cx="812101" cy="81210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0"/>
                </a:lnSpc>
              </a:pPr>
              <a:r>
                <a:rPr lang="en-US" b="true" sz="2221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73585" y="2848191"/>
            <a:ext cx="812101" cy="81210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8"/>
                </a:lnSpc>
              </a:pPr>
              <a:r>
                <a:rPr lang="en-US" b="true" sz="2220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73585" y="4737450"/>
            <a:ext cx="812101" cy="81210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8"/>
                </a:lnSpc>
              </a:pPr>
              <a:r>
                <a:rPr lang="en-US" b="true" sz="2220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73585" y="6771719"/>
            <a:ext cx="812101" cy="81210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8"/>
                </a:lnSpc>
              </a:pPr>
              <a:r>
                <a:rPr lang="en-US" b="true" sz="2220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73585" y="8472542"/>
            <a:ext cx="812101" cy="81210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B1124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6B112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F4F4F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8"/>
                </a:lnSpc>
              </a:pPr>
              <a:r>
                <a:rPr lang="en-US" b="true" sz="2220" spc="4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4026713"/>
            <a:ext cx="9306328" cy="4712852"/>
            <a:chOff x="0" y="0"/>
            <a:chExt cx="12408437" cy="6283802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114300"/>
              <a:ext cx="11221669" cy="161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22"/>
                </a:lnSpc>
              </a:pPr>
              <a:r>
                <a:rPr lang="en-US" sz="8550" spc="-359" b="true">
                  <a:solidFill>
                    <a:srgbClr val="F4F4F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Key Findings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4557817"/>
              <a:ext cx="9289355" cy="650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  <a:spcBef>
                  <a:spcPct val="0"/>
                </a:spcBef>
              </a:pP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5931589"/>
              <a:ext cx="12408437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44299" y="5138737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44299" y="3948657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22150" y="9228218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31056" y="5562600"/>
            <a:ext cx="15688034" cy="3318399"/>
            <a:chOff x="0" y="0"/>
            <a:chExt cx="20917379" cy="44245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88769" y="3878"/>
              <a:ext cx="7212321" cy="1098478"/>
              <a:chOff x="0" y="0"/>
              <a:chExt cx="1424656" cy="2169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24656" cy="216983"/>
              </a:xfrm>
              <a:custGeom>
                <a:avLst/>
                <a:gdLst/>
                <a:ahLst/>
                <a:cxnLst/>
                <a:rect r="r" b="b" t="t" l="l"/>
                <a:pathLst>
                  <a:path h="216983" w="1424656">
                    <a:moveTo>
                      <a:pt x="108492" y="0"/>
                    </a:moveTo>
                    <a:lnTo>
                      <a:pt x="1316164" y="0"/>
                    </a:lnTo>
                    <a:cubicBezTo>
                      <a:pt x="1376083" y="0"/>
                      <a:pt x="1424656" y="48573"/>
                      <a:pt x="1424656" y="108492"/>
                    </a:cubicBezTo>
                    <a:lnTo>
                      <a:pt x="1424656" y="108492"/>
                    </a:lnTo>
                    <a:cubicBezTo>
                      <a:pt x="1424656" y="168410"/>
                      <a:pt x="1376083" y="216983"/>
                      <a:pt x="1316164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1424656" cy="2931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30"/>
                  </a:lnSpc>
                </a:pPr>
                <a:r>
                  <a:rPr lang="en-US" b="true" sz="2521" spc="52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KEY EVIDENCE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170767" y="221163"/>
              <a:ext cx="3652787" cy="58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12243366" y="0"/>
              <a:ext cx="7601090" cy="1098478"/>
              <a:chOff x="0" y="0"/>
              <a:chExt cx="1501450" cy="21698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501450" cy="216983"/>
              </a:xfrm>
              <a:custGeom>
                <a:avLst/>
                <a:gdLst/>
                <a:ahLst/>
                <a:cxnLst/>
                <a:rect r="r" b="b" t="t" l="l"/>
                <a:pathLst>
                  <a:path h="216983" w="1501450">
                    <a:moveTo>
                      <a:pt x="108492" y="0"/>
                    </a:moveTo>
                    <a:lnTo>
                      <a:pt x="1392958" y="0"/>
                    </a:lnTo>
                    <a:cubicBezTo>
                      <a:pt x="1452876" y="0"/>
                      <a:pt x="1501450" y="48573"/>
                      <a:pt x="1501450" y="108492"/>
                    </a:cubicBezTo>
                    <a:lnTo>
                      <a:pt x="1501450" y="108492"/>
                    </a:lnTo>
                    <a:cubicBezTo>
                      <a:pt x="1501450" y="168410"/>
                      <a:pt x="1452876" y="216983"/>
                      <a:pt x="1392958" y="216983"/>
                    </a:cubicBezTo>
                    <a:lnTo>
                      <a:pt x="108492" y="216983"/>
                    </a:lnTo>
                    <a:cubicBezTo>
                      <a:pt x="48573" y="216983"/>
                      <a:pt x="0" y="168410"/>
                      <a:pt x="0" y="108492"/>
                    </a:cubicBezTo>
                    <a:lnTo>
                      <a:pt x="0" y="108492"/>
                    </a:lnTo>
                    <a:cubicBezTo>
                      <a:pt x="0" y="48573"/>
                      <a:pt x="48573" y="0"/>
                      <a:pt x="108492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76200"/>
                <a:ext cx="1501450" cy="2931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30"/>
                  </a:lnSpc>
                </a:pPr>
                <a:r>
                  <a:rPr lang="en-US" b="true" sz="2521" spc="52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KEY TAKEAWAY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487056" y="221163"/>
              <a:ext cx="4001229" cy="58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1963463"/>
              <a:ext cx="8616017" cy="2376703"/>
              <a:chOff x="0" y="0"/>
              <a:chExt cx="1701929" cy="46947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1929" cy="469472"/>
              </a:xfrm>
              <a:custGeom>
                <a:avLst/>
                <a:gdLst/>
                <a:ahLst/>
                <a:cxnLst/>
                <a:rect r="r" b="b" t="t" l="l"/>
                <a:pathLst>
                  <a:path h="469472" w="1701929">
                    <a:moveTo>
                      <a:pt x="119807" y="0"/>
                    </a:moveTo>
                    <a:lnTo>
                      <a:pt x="1582123" y="0"/>
                    </a:lnTo>
                    <a:cubicBezTo>
                      <a:pt x="1613898" y="0"/>
                      <a:pt x="1644371" y="12622"/>
                      <a:pt x="1666839" y="35091"/>
                    </a:cubicBezTo>
                    <a:cubicBezTo>
                      <a:pt x="1689307" y="57559"/>
                      <a:pt x="1701929" y="88032"/>
                      <a:pt x="1701929" y="119807"/>
                    </a:cubicBezTo>
                    <a:lnTo>
                      <a:pt x="1701929" y="349666"/>
                    </a:lnTo>
                    <a:cubicBezTo>
                      <a:pt x="1701929" y="381440"/>
                      <a:pt x="1689307" y="411914"/>
                      <a:pt x="1666839" y="434382"/>
                    </a:cubicBezTo>
                    <a:cubicBezTo>
                      <a:pt x="1644371" y="456850"/>
                      <a:pt x="1613898" y="469472"/>
                      <a:pt x="1582123" y="469472"/>
                    </a:cubicBezTo>
                    <a:lnTo>
                      <a:pt x="119807" y="469472"/>
                    </a:lnTo>
                    <a:cubicBezTo>
                      <a:pt x="88032" y="469472"/>
                      <a:pt x="57559" y="456850"/>
                      <a:pt x="35091" y="434382"/>
                    </a:cubicBezTo>
                    <a:cubicBezTo>
                      <a:pt x="12622" y="411914"/>
                      <a:pt x="0" y="381440"/>
                      <a:pt x="0" y="349666"/>
                    </a:cubicBezTo>
                    <a:lnTo>
                      <a:pt x="0" y="119807"/>
                    </a:lnTo>
                    <a:cubicBezTo>
                      <a:pt x="0" y="88032"/>
                      <a:pt x="12622" y="57559"/>
                      <a:pt x="35091" y="35091"/>
                    </a:cubicBezTo>
                    <a:cubicBezTo>
                      <a:pt x="57559" y="12622"/>
                      <a:pt x="88032" y="0"/>
                      <a:pt x="119807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85725"/>
                <a:ext cx="1701929" cy="5551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50"/>
                  </a:lnSpc>
                </a:pPr>
                <a:r>
                  <a:rPr lang="en-US" b="true" sz="2821" spc="59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ON TIME        4.21 ★</a:t>
                </a:r>
              </a:p>
              <a:p>
                <a:pPr algn="ctr">
                  <a:lnSpc>
                    <a:spcPts val="3950"/>
                  </a:lnSpc>
                </a:pPr>
                <a:r>
                  <a:rPr lang="en-US" b="true" sz="2821" spc="59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Delayed        2.55 ★</a:t>
                </a:r>
              </a:p>
              <a:p>
                <a:pPr algn="ctr">
                  <a:lnSpc>
                    <a:spcPts val="3950"/>
                  </a:lnSpc>
                </a:pPr>
                <a:r>
                  <a:rPr lang="en-US" b="true" sz="2821" spc="59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Missing Date   1.75 ★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0761335" y="1669978"/>
              <a:ext cx="10156044" cy="2754554"/>
              <a:chOff x="0" y="0"/>
              <a:chExt cx="2006132" cy="54411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06132" cy="544110"/>
              </a:xfrm>
              <a:custGeom>
                <a:avLst/>
                <a:gdLst/>
                <a:ahLst/>
                <a:cxnLst/>
                <a:rect r="r" b="b" t="t" l="l"/>
                <a:pathLst>
                  <a:path h="544110" w="2006132">
                    <a:moveTo>
                      <a:pt x="101640" y="0"/>
                    </a:moveTo>
                    <a:lnTo>
                      <a:pt x="1904493" y="0"/>
                    </a:lnTo>
                    <a:cubicBezTo>
                      <a:pt x="1960627" y="0"/>
                      <a:pt x="2006132" y="45506"/>
                      <a:pt x="2006132" y="101640"/>
                    </a:cubicBezTo>
                    <a:lnTo>
                      <a:pt x="2006132" y="442470"/>
                    </a:lnTo>
                    <a:cubicBezTo>
                      <a:pt x="2006132" y="498604"/>
                      <a:pt x="1960627" y="544110"/>
                      <a:pt x="1904493" y="544110"/>
                    </a:cubicBezTo>
                    <a:lnTo>
                      <a:pt x="101640" y="544110"/>
                    </a:lnTo>
                    <a:cubicBezTo>
                      <a:pt x="45506" y="544110"/>
                      <a:pt x="0" y="498604"/>
                      <a:pt x="0" y="442470"/>
                    </a:cubicBezTo>
                    <a:lnTo>
                      <a:pt x="0" y="101640"/>
                    </a:lnTo>
                    <a:cubicBezTo>
                      <a:pt x="0" y="45506"/>
                      <a:pt x="45506" y="0"/>
                      <a:pt x="101640" y="0"/>
                    </a:cubicBezTo>
                    <a:close/>
                  </a:path>
                </a:pathLst>
              </a:custGeom>
              <a:ln w="9525" cap="rnd">
                <a:solidFill>
                  <a:srgbClr val="F4F4F4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76200"/>
                <a:ext cx="2006132" cy="6203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30"/>
                  </a:lnSpc>
                </a:pPr>
                <a:r>
                  <a:rPr lang="en-US" b="true" sz="2521" spc="52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ON-TIME ORDERS RECEIVED</a:t>
                </a:r>
              </a:p>
              <a:p>
                <a:pPr algn="ctr">
                  <a:lnSpc>
                    <a:spcPts val="3530"/>
                  </a:lnSpc>
                </a:pPr>
                <a:r>
                  <a:rPr lang="en-US" b="true" sz="2521" spc="52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much higher customer ratings.</a:t>
                </a:r>
              </a:p>
              <a:p>
                <a:pPr algn="ctr">
                  <a:lnSpc>
                    <a:spcPts val="3530"/>
                  </a:lnSpc>
                </a:pPr>
              </a:p>
              <a:p>
                <a:pPr algn="ctr">
                  <a:lnSpc>
                    <a:spcPts val="3530"/>
                  </a:lnSpc>
                </a:pPr>
                <a:r>
                  <a:rPr lang="en-US" b="true" sz="2521" spc="52">
                    <a:solidFill>
                      <a:srgbClr val="F4F4F4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Focus on reducing delivery delays.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4367495" y="1887263"/>
              <a:ext cx="6264188" cy="58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82873" y="1684998"/>
            <a:ext cx="14322254" cy="221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2"/>
              </a:lnSpc>
            </a:pPr>
            <a:r>
              <a:rPr lang="en-US" b="true" sz="8550" spc="-359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Delivery Performance &amp; Customer Satisfaction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17293" y="4229644"/>
            <a:ext cx="8515562" cy="5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0"/>
              </a:lnSpc>
              <a:spcBef>
                <a:spcPct val="0"/>
              </a:spcBef>
            </a:pPr>
            <a:r>
              <a:rPr lang="en-US" sz="2821" spc="-118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Different Approaches for Different Goals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3631" y="637362"/>
            <a:ext cx="14566847" cy="137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9"/>
              </a:lnSpc>
            </a:pPr>
            <a:r>
              <a:rPr lang="en-US" b="true" sz="9999" spc="-419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Limitations &amp; Next Steps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50877" y="2851086"/>
            <a:ext cx="13009601" cy="615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Limitations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Historical data may not reflect current market conditions.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Marketing, discounts and campaign data are limited.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Delivery delays and ratings show association, not causation.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Next Steps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Investigate the November 2017 sales spike.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Analyze seller-level delivery performance.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• Add marketing and discount data for deeper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DAHU4oFXGG4</dc:identifier>
  <dcterms:modified xsi:type="dcterms:W3CDTF">2011-08-01T06:04:30Z</dcterms:modified>
  <cp:revision>1</cp:revision>
  <dc:title>Olist E-Commerce Business Performance Analysis</dc:title>
</cp:coreProperties>
</file>